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oppins"/>
      <p:regular r:id="rId21"/>
      <p:bold r:id="rId22"/>
      <p:italic r:id="rId23"/>
      <p:boldItalic r:id="rId24"/>
    </p:embeddedFont>
    <p:embeddedFont>
      <p:font typeface="Barlow Semi Condensed Medium"/>
      <p:regular r:id="rId25"/>
      <p:bold r:id="rId26"/>
      <p:italic r:id="rId27"/>
      <p:boldItalic r:id="rId28"/>
    </p:embeddedFont>
    <p:embeddedFont>
      <p:font typeface="Rubik"/>
      <p:regular r:id="rId29"/>
      <p:bold r:id="rId30"/>
      <p:italic r:id="rId31"/>
      <p:boldItalic r:id="rId32"/>
    </p:embeddedFont>
    <p:embeddedFont>
      <p:font typeface="Barlow Semi Condense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SemiCondensedMedium-bold.fntdata"/><Relationship Id="rId25" Type="http://schemas.openxmlformats.org/officeDocument/2006/relationships/font" Target="fonts/BarlowSemiCondensedMedium-regular.fntdata"/><Relationship Id="rId28" Type="http://schemas.openxmlformats.org/officeDocument/2006/relationships/font" Target="fonts/BarlowSemiCondensedMedium-boldItalic.fntdata"/><Relationship Id="rId27" Type="http://schemas.openxmlformats.org/officeDocument/2006/relationships/font" Target="fonts/BarlowSemiCondensed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italic.fntdata"/><Relationship Id="rId30" Type="http://schemas.openxmlformats.org/officeDocument/2006/relationships/font" Target="fonts/Rubik-bold.fntdata"/><Relationship Id="rId11" Type="http://schemas.openxmlformats.org/officeDocument/2006/relationships/slide" Target="slides/slide6.xml"/><Relationship Id="rId33" Type="http://schemas.openxmlformats.org/officeDocument/2006/relationships/font" Target="fonts/BarlowSemiCondensed-regular.fntdata"/><Relationship Id="rId10" Type="http://schemas.openxmlformats.org/officeDocument/2006/relationships/slide" Target="slides/slide5.xml"/><Relationship Id="rId32" Type="http://schemas.openxmlformats.org/officeDocument/2006/relationships/font" Target="fonts/Rubik-boldItalic.fntdata"/><Relationship Id="rId13" Type="http://schemas.openxmlformats.org/officeDocument/2006/relationships/slide" Target="slides/slide8.xml"/><Relationship Id="rId35" Type="http://schemas.openxmlformats.org/officeDocument/2006/relationships/font" Target="fonts/BarlowSemiCondensed-italic.fntdata"/><Relationship Id="rId12" Type="http://schemas.openxmlformats.org/officeDocument/2006/relationships/slide" Target="slides/slide7.xml"/><Relationship Id="rId34" Type="http://schemas.openxmlformats.org/officeDocument/2006/relationships/font" Target="fonts/BarlowSemiCondensed-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BarlowSemiCondense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852eaa05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852eaa05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6350b342a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6350b342a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52eaa050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52eaa050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c602199f7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c602199f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602199f7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602199f7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602199f7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c602199f7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602199f7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602199f7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602199f7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602199f7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602199f7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602199f7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602199f7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602199f7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602199f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602199f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602199f7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c602199f7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602199f7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602199f7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602199f7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602199f7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602199f7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602199f7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type="ctrTitle"/>
          </p:nvPr>
        </p:nvSpPr>
        <p:spPr>
          <a:xfrm>
            <a:off x="5248656" y="2002536"/>
            <a:ext cx="3264300" cy="1792200"/>
          </a:xfrm>
          <a:prstGeom prst="rect">
            <a:avLst/>
          </a:prstGeom>
        </p:spPr>
        <p:txBody>
          <a:bodyPr anchorCtr="0" anchor="b" bIns="91425" lIns="91425" spcFirstLastPara="1" rIns="91425" wrap="square" tIns="91425">
            <a:normAutofit/>
          </a:bodyPr>
          <a:lstStyle>
            <a:lvl1pPr lvl="0" rtl="0" algn="r">
              <a:spcBef>
                <a:spcPts val="0"/>
              </a:spcBef>
              <a:spcAft>
                <a:spcPts val="0"/>
              </a:spcAft>
              <a:buSzPts val="5200"/>
              <a:buNone/>
              <a:defRPr sz="5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52" name="Google Shape;52;p13"/>
          <p:cNvSpPr txBox="1"/>
          <p:nvPr>
            <p:ph idx="1" type="subTitle"/>
          </p:nvPr>
        </p:nvSpPr>
        <p:spPr>
          <a:xfrm>
            <a:off x="5248656" y="3721608"/>
            <a:ext cx="3264300" cy="896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53" name="Google Shape;53;p13"/>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54" name="Google Shape;54;p13"/>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55" name="Google Shape;55;p13"/>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56" name="Google Shape;56;p13"/>
          <p:cNvGrpSpPr/>
          <p:nvPr/>
        </p:nvGrpSpPr>
        <p:grpSpPr>
          <a:xfrm>
            <a:off x="8064275" y="887850"/>
            <a:ext cx="581800" cy="582350"/>
            <a:chOff x="8064275" y="887850"/>
            <a:chExt cx="581800" cy="582350"/>
          </a:xfrm>
        </p:grpSpPr>
        <p:sp>
          <p:nvSpPr>
            <p:cNvPr id="57" name="Google Shape;57;p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3"/>
          <p:cNvGrpSpPr/>
          <p:nvPr/>
        </p:nvGrpSpPr>
        <p:grpSpPr>
          <a:xfrm>
            <a:off x="7353050" y="316275"/>
            <a:ext cx="292025" cy="292575"/>
            <a:chOff x="7353050" y="316275"/>
            <a:chExt cx="292025" cy="292575"/>
          </a:xfrm>
        </p:grpSpPr>
        <p:sp>
          <p:nvSpPr>
            <p:cNvPr id="64" name="Google Shape;64;p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13"/>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13"/>
          <p:cNvGrpSpPr/>
          <p:nvPr/>
        </p:nvGrpSpPr>
        <p:grpSpPr>
          <a:xfrm>
            <a:off x="5443350" y="289275"/>
            <a:ext cx="175013" cy="27000"/>
            <a:chOff x="5662375" y="212375"/>
            <a:chExt cx="175013" cy="27000"/>
          </a:xfrm>
        </p:grpSpPr>
        <p:sp>
          <p:nvSpPr>
            <p:cNvPr id="75" name="Google Shape;75;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13"/>
          <p:cNvGrpSpPr/>
          <p:nvPr/>
        </p:nvGrpSpPr>
        <p:grpSpPr>
          <a:xfrm>
            <a:off x="8490050" y="170875"/>
            <a:ext cx="175013" cy="27000"/>
            <a:chOff x="5662375" y="212375"/>
            <a:chExt cx="175013" cy="27000"/>
          </a:xfrm>
        </p:grpSpPr>
        <p:sp>
          <p:nvSpPr>
            <p:cNvPr id="79" name="Google Shape;79;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3"/>
          <p:cNvGrpSpPr/>
          <p:nvPr/>
        </p:nvGrpSpPr>
        <p:grpSpPr>
          <a:xfrm>
            <a:off x="8068750" y="1581800"/>
            <a:ext cx="175013" cy="27000"/>
            <a:chOff x="5662375" y="212375"/>
            <a:chExt cx="175013" cy="27000"/>
          </a:xfrm>
        </p:grpSpPr>
        <p:sp>
          <p:nvSpPr>
            <p:cNvPr id="83" name="Google Shape;83;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86" name="Shape 86"/>
        <p:cNvGrpSpPr/>
        <p:nvPr/>
      </p:nvGrpSpPr>
      <p:grpSpPr>
        <a:xfrm>
          <a:off x="0" y="0"/>
          <a:ext cx="0" cy="0"/>
          <a:chOff x="0" y="0"/>
          <a:chExt cx="0" cy="0"/>
        </a:xfrm>
      </p:grpSpPr>
      <p:sp>
        <p:nvSpPr>
          <p:cNvPr id="87" name="Google Shape;87;p14"/>
          <p:cNvSpPr txBox="1"/>
          <p:nvPr>
            <p:ph type="title"/>
          </p:nvPr>
        </p:nvSpPr>
        <p:spPr>
          <a:xfrm>
            <a:off x="2532888" y="338328"/>
            <a:ext cx="4087500" cy="576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88" name="Google Shape;88;p14"/>
          <p:cNvSpPr txBox="1"/>
          <p:nvPr>
            <p:ph idx="1" type="body"/>
          </p:nvPr>
        </p:nvSpPr>
        <p:spPr>
          <a:xfrm>
            <a:off x="714650" y="1152150"/>
            <a:ext cx="7705500" cy="3529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89" name="Google Shape;89;p14"/>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90" name="Google Shape;90;p14"/>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91" name="Google Shape;91;p14"/>
          <p:cNvGrpSpPr/>
          <p:nvPr/>
        </p:nvGrpSpPr>
        <p:grpSpPr>
          <a:xfrm flipH="1">
            <a:off x="300738" y="4167800"/>
            <a:ext cx="292025" cy="292575"/>
            <a:chOff x="7353050" y="316275"/>
            <a:chExt cx="292025" cy="292575"/>
          </a:xfrm>
        </p:grpSpPr>
        <p:sp>
          <p:nvSpPr>
            <p:cNvPr id="92" name="Google Shape;92;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 name="Google Shape;96;p14"/>
          <p:cNvGrpSpPr/>
          <p:nvPr/>
        </p:nvGrpSpPr>
        <p:grpSpPr>
          <a:xfrm>
            <a:off x="148789" y="3224300"/>
            <a:ext cx="293111" cy="293388"/>
            <a:chOff x="3164039" y="430875"/>
            <a:chExt cx="293111" cy="293388"/>
          </a:xfrm>
        </p:grpSpPr>
        <p:sp>
          <p:nvSpPr>
            <p:cNvPr id="97" name="Google Shape;97;p1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 name="Google Shape;103;p14"/>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14"/>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05" name="Google Shape;105;p14"/>
          <p:cNvGrpSpPr/>
          <p:nvPr/>
        </p:nvGrpSpPr>
        <p:grpSpPr>
          <a:xfrm>
            <a:off x="8064275" y="526925"/>
            <a:ext cx="581800" cy="582350"/>
            <a:chOff x="8064275" y="887850"/>
            <a:chExt cx="581800" cy="582350"/>
          </a:xfrm>
        </p:grpSpPr>
        <p:sp>
          <p:nvSpPr>
            <p:cNvPr id="106" name="Google Shape;106;p1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14"/>
          <p:cNvGrpSpPr/>
          <p:nvPr/>
        </p:nvGrpSpPr>
        <p:grpSpPr>
          <a:xfrm>
            <a:off x="7033875" y="170875"/>
            <a:ext cx="292025" cy="292575"/>
            <a:chOff x="7353050" y="316275"/>
            <a:chExt cx="292025" cy="292575"/>
          </a:xfrm>
        </p:grpSpPr>
        <p:sp>
          <p:nvSpPr>
            <p:cNvPr id="113" name="Google Shape;113;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14"/>
          <p:cNvGrpSpPr/>
          <p:nvPr/>
        </p:nvGrpSpPr>
        <p:grpSpPr>
          <a:xfrm>
            <a:off x="8757950" y="229650"/>
            <a:ext cx="175000" cy="175000"/>
            <a:chOff x="8792300" y="321275"/>
            <a:chExt cx="175000" cy="175000"/>
          </a:xfrm>
        </p:grpSpPr>
        <p:sp>
          <p:nvSpPr>
            <p:cNvPr id="118" name="Google Shape;118;p1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14"/>
          <p:cNvGrpSpPr/>
          <p:nvPr/>
        </p:nvGrpSpPr>
        <p:grpSpPr>
          <a:xfrm>
            <a:off x="8490050" y="170875"/>
            <a:ext cx="175013" cy="27000"/>
            <a:chOff x="5662375" y="212375"/>
            <a:chExt cx="175013" cy="27000"/>
          </a:xfrm>
        </p:grpSpPr>
        <p:sp>
          <p:nvSpPr>
            <p:cNvPr id="123" name="Google Shape;123;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14"/>
          <p:cNvGrpSpPr/>
          <p:nvPr/>
        </p:nvGrpSpPr>
        <p:grpSpPr>
          <a:xfrm>
            <a:off x="7916350" y="1124600"/>
            <a:ext cx="175013" cy="27000"/>
            <a:chOff x="5662375" y="212375"/>
            <a:chExt cx="175013" cy="27000"/>
          </a:xfrm>
        </p:grpSpPr>
        <p:sp>
          <p:nvSpPr>
            <p:cNvPr id="127" name="Google Shape;127;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130" name="Shape 130"/>
        <p:cNvGrpSpPr/>
        <p:nvPr/>
      </p:nvGrpSpPr>
      <p:grpSpPr>
        <a:xfrm>
          <a:off x="0" y="0"/>
          <a:ext cx="0" cy="0"/>
          <a:chOff x="0" y="0"/>
          <a:chExt cx="0" cy="0"/>
        </a:xfrm>
      </p:grpSpPr>
      <p:sp>
        <p:nvSpPr>
          <p:cNvPr id="131" name="Google Shape;131;p15"/>
          <p:cNvSpPr txBox="1"/>
          <p:nvPr>
            <p:ph type="title"/>
          </p:nvPr>
        </p:nvSpPr>
        <p:spPr>
          <a:xfrm>
            <a:off x="1719072" y="338328"/>
            <a:ext cx="5577900" cy="5943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32" name="Google Shape;132;p15"/>
          <p:cNvSpPr txBox="1"/>
          <p:nvPr>
            <p:ph idx="1" type="subTitle"/>
          </p:nvPr>
        </p:nvSpPr>
        <p:spPr>
          <a:xfrm>
            <a:off x="3694176"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3" name="Google Shape;133;p15"/>
          <p:cNvSpPr txBox="1"/>
          <p:nvPr>
            <p:ph idx="2" type="subTitle"/>
          </p:nvPr>
        </p:nvSpPr>
        <p:spPr>
          <a:xfrm>
            <a:off x="1024128"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4" name="Google Shape;134;p15"/>
          <p:cNvSpPr txBox="1"/>
          <p:nvPr>
            <p:ph idx="3" type="subTitle"/>
          </p:nvPr>
        </p:nvSpPr>
        <p:spPr>
          <a:xfrm>
            <a:off x="6355080"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5" name="Google Shape;135;p15"/>
          <p:cNvSpPr txBox="1"/>
          <p:nvPr>
            <p:ph idx="4" type="subTitle"/>
          </p:nvPr>
        </p:nvSpPr>
        <p:spPr>
          <a:xfrm>
            <a:off x="3694176"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6" name="Google Shape;136;p15"/>
          <p:cNvSpPr txBox="1"/>
          <p:nvPr>
            <p:ph idx="5" type="subTitle"/>
          </p:nvPr>
        </p:nvSpPr>
        <p:spPr>
          <a:xfrm>
            <a:off x="1024128"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7" name="Google Shape;137;p15"/>
          <p:cNvSpPr txBox="1"/>
          <p:nvPr>
            <p:ph idx="6" type="subTitle"/>
          </p:nvPr>
        </p:nvSpPr>
        <p:spPr>
          <a:xfrm>
            <a:off x="6355080"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138" name="Google Shape;138;p15"/>
          <p:cNvGrpSpPr/>
          <p:nvPr/>
        </p:nvGrpSpPr>
        <p:grpSpPr>
          <a:xfrm>
            <a:off x="261711" y="-1158"/>
            <a:ext cx="8550326" cy="3981600"/>
            <a:chOff x="261711" y="-1158"/>
            <a:chExt cx="8550326" cy="3981600"/>
          </a:xfrm>
        </p:grpSpPr>
        <p:cxnSp>
          <p:nvCxnSpPr>
            <p:cNvPr id="139" name="Google Shape;139;p15"/>
            <p:cNvCxnSpPr/>
            <p:nvPr/>
          </p:nvCxnSpPr>
          <p:spPr>
            <a:xfrm>
              <a:off x="515925" y="-1158"/>
              <a:ext cx="0" cy="3981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5"/>
            <p:cNvCxnSpPr/>
            <p:nvPr/>
          </p:nvCxnSpPr>
          <p:spPr>
            <a:xfrm>
              <a:off x="8666025" y="-1158"/>
              <a:ext cx="0" cy="1902000"/>
            </a:xfrm>
            <a:prstGeom prst="straightConnector1">
              <a:avLst/>
            </a:prstGeom>
            <a:noFill/>
            <a:ln cap="flat" cmpd="sng" w="9525">
              <a:solidFill>
                <a:schemeClr val="dk1"/>
              </a:solidFill>
              <a:prstDash val="solid"/>
              <a:round/>
              <a:headEnd len="med" w="med" type="none"/>
              <a:tailEnd len="med" w="med" type="none"/>
            </a:ln>
          </p:spPr>
        </p:cxnSp>
        <p:grpSp>
          <p:nvGrpSpPr>
            <p:cNvPr id="141" name="Google Shape;141;p15"/>
            <p:cNvGrpSpPr/>
            <p:nvPr/>
          </p:nvGrpSpPr>
          <p:grpSpPr>
            <a:xfrm rot="10800000">
              <a:off x="343275" y="3300779"/>
              <a:ext cx="344736" cy="345385"/>
              <a:chOff x="7353050" y="316275"/>
              <a:chExt cx="292025" cy="292575"/>
            </a:xfrm>
          </p:grpSpPr>
          <p:sp>
            <p:nvSpPr>
              <p:cNvPr id="142" name="Google Shape;142;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15"/>
            <p:cNvGrpSpPr/>
            <p:nvPr/>
          </p:nvGrpSpPr>
          <p:grpSpPr>
            <a:xfrm rot="10800000">
              <a:off x="8520013" y="714742"/>
              <a:ext cx="292025" cy="292575"/>
              <a:chOff x="7353050" y="316275"/>
              <a:chExt cx="292025" cy="292575"/>
            </a:xfrm>
          </p:grpSpPr>
          <p:sp>
            <p:nvSpPr>
              <p:cNvPr id="147" name="Google Shape;147;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 name="Google Shape;151;p15"/>
            <p:cNvGrpSpPr/>
            <p:nvPr/>
          </p:nvGrpSpPr>
          <p:grpSpPr>
            <a:xfrm rot="10800000">
              <a:off x="261711" y="465077"/>
              <a:ext cx="507562" cy="507984"/>
              <a:chOff x="8064275" y="887850"/>
              <a:chExt cx="581800" cy="582350"/>
            </a:xfrm>
          </p:grpSpPr>
          <p:sp>
            <p:nvSpPr>
              <p:cNvPr id="152" name="Google Shape;152;p1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158" name="Shape 158"/>
        <p:cNvGrpSpPr/>
        <p:nvPr/>
      </p:nvGrpSpPr>
      <p:grpSpPr>
        <a:xfrm>
          <a:off x="0" y="0"/>
          <a:ext cx="0" cy="0"/>
          <a:chOff x="0" y="0"/>
          <a:chExt cx="0" cy="0"/>
        </a:xfrm>
      </p:grpSpPr>
      <p:sp>
        <p:nvSpPr>
          <p:cNvPr id="159" name="Google Shape;159;p16"/>
          <p:cNvSpPr txBox="1"/>
          <p:nvPr>
            <p:ph type="title"/>
          </p:nvPr>
        </p:nvSpPr>
        <p:spPr>
          <a:xfrm>
            <a:off x="1568775" y="442350"/>
            <a:ext cx="6006300" cy="5958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60" name="Google Shape;160;p16"/>
          <p:cNvSpPr txBox="1"/>
          <p:nvPr>
            <p:ph idx="1" type="subTitle"/>
          </p:nvPr>
        </p:nvSpPr>
        <p:spPr>
          <a:xfrm>
            <a:off x="1709928" y="1545336"/>
            <a:ext cx="19452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1" name="Google Shape;161;p16"/>
          <p:cNvSpPr txBox="1"/>
          <p:nvPr>
            <p:ph idx="2" type="subTitle"/>
          </p:nvPr>
        </p:nvSpPr>
        <p:spPr>
          <a:xfrm>
            <a:off x="1709928" y="1938528"/>
            <a:ext cx="19452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2" name="Google Shape;162;p16"/>
          <p:cNvSpPr txBox="1"/>
          <p:nvPr>
            <p:ph idx="3" type="subTitle"/>
          </p:nvPr>
        </p:nvSpPr>
        <p:spPr>
          <a:xfrm>
            <a:off x="5468112" y="1545336"/>
            <a:ext cx="19476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3" name="Google Shape;163;p16"/>
          <p:cNvSpPr txBox="1"/>
          <p:nvPr>
            <p:ph idx="4" type="subTitle"/>
          </p:nvPr>
        </p:nvSpPr>
        <p:spPr>
          <a:xfrm>
            <a:off x="5468112" y="1938528"/>
            <a:ext cx="19476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4" name="Google Shape;164;p16"/>
          <p:cNvSpPr txBox="1"/>
          <p:nvPr>
            <p:ph idx="5" type="subTitle"/>
          </p:nvPr>
        </p:nvSpPr>
        <p:spPr>
          <a:xfrm>
            <a:off x="2825496" y="3200400"/>
            <a:ext cx="19452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5" name="Google Shape;165;p16"/>
          <p:cNvSpPr txBox="1"/>
          <p:nvPr>
            <p:ph idx="6" type="subTitle"/>
          </p:nvPr>
        </p:nvSpPr>
        <p:spPr>
          <a:xfrm>
            <a:off x="2825496" y="3593592"/>
            <a:ext cx="19452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6" name="Google Shape;166;p16"/>
          <p:cNvSpPr txBox="1"/>
          <p:nvPr>
            <p:ph idx="7" type="subTitle"/>
          </p:nvPr>
        </p:nvSpPr>
        <p:spPr>
          <a:xfrm>
            <a:off x="6464808" y="3200400"/>
            <a:ext cx="19935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7" name="Google Shape;167;p16"/>
          <p:cNvSpPr txBox="1"/>
          <p:nvPr>
            <p:ph idx="8" type="subTitle"/>
          </p:nvPr>
        </p:nvSpPr>
        <p:spPr>
          <a:xfrm>
            <a:off x="6464808" y="3593592"/>
            <a:ext cx="19935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168" name="Google Shape;168;p16"/>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169" name="Google Shape;169;p16"/>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16"/>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171" name="Google Shape;171;p16"/>
          <p:cNvGrpSpPr/>
          <p:nvPr/>
        </p:nvGrpSpPr>
        <p:grpSpPr>
          <a:xfrm flipH="1">
            <a:off x="423750" y="125363"/>
            <a:ext cx="292025" cy="292575"/>
            <a:chOff x="7353050" y="316275"/>
            <a:chExt cx="292025" cy="292575"/>
          </a:xfrm>
        </p:grpSpPr>
        <p:sp>
          <p:nvSpPr>
            <p:cNvPr id="172" name="Google Shape;172;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16"/>
          <p:cNvGrpSpPr/>
          <p:nvPr/>
        </p:nvGrpSpPr>
        <p:grpSpPr>
          <a:xfrm>
            <a:off x="1638739" y="558163"/>
            <a:ext cx="293111" cy="293388"/>
            <a:chOff x="3164039" y="430875"/>
            <a:chExt cx="293111" cy="293388"/>
          </a:xfrm>
        </p:grpSpPr>
        <p:sp>
          <p:nvSpPr>
            <p:cNvPr id="177" name="Google Shape;177;p1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16"/>
          <p:cNvGrpSpPr/>
          <p:nvPr/>
        </p:nvGrpSpPr>
        <p:grpSpPr>
          <a:xfrm>
            <a:off x="1591750" y="362600"/>
            <a:ext cx="175013" cy="27000"/>
            <a:chOff x="5662375" y="212375"/>
            <a:chExt cx="175013" cy="27000"/>
          </a:xfrm>
        </p:grpSpPr>
        <p:sp>
          <p:nvSpPr>
            <p:cNvPr id="184" name="Google Shape;184;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7" name="Google Shape;187;p16"/>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188" name="Google Shape;188;p16"/>
          <p:cNvGrpSpPr/>
          <p:nvPr/>
        </p:nvGrpSpPr>
        <p:grpSpPr>
          <a:xfrm>
            <a:off x="7823875" y="202375"/>
            <a:ext cx="581800" cy="582350"/>
            <a:chOff x="8064275" y="887850"/>
            <a:chExt cx="581800" cy="582350"/>
          </a:xfrm>
        </p:grpSpPr>
        <p:sp>
          <p:nvSpPr>
            <p:cNvPr id="189" name="Google Shape;189;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 name="Google Shape;195;p16"/>
          <p:cNvGrpSpPr/>
          <p:nvPr/>
        </p:nvGrpSpPr>
        <p:grpSpPr>
          <a:xfrm flipH="1">
            <a:off x="8698650" y="1117488"/>
            <a:ext cx="292025" cy="292575"/>
            <a:chOff x="7353050" y="316275"/>
            <a:chExt cx="292025" cy="292575"/>
          </a:xfrm>
        </p:grpSpPr>
        <p:sp>
          <p:nvSpPr>
            <p:cNvPr id="196" name="Google Shape;196;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16"/>
          <p:cNvGrpSpPr/>
          <p:nvPr/>
        </p:nvGrpSpPr>
        <p:grpSpPr>
          <a:xfrm>
            <a:off x="8678350" y="1581800"/>
            <a:ext cx="175013" cy="27000"/>
            <a:chOff x="5662375" y="212375"/>
            <a:chExt cx="175013" cy="27000"/>
          </a:xfrm>
        </p:grpSpPr>
        <p:sp>
          <p:nvSpPr>
            <p:cNvPr id="201" name="Google Shape;201;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4" name="Shape 204"/>
        <p:cNvGrpSpPr/>
        <p:nvPr/>
      </p:nvGrpSpPr>
      <p:grpSpPr>
        <a:xfrm>
          <a:off x="0" y="0"/>
          <a:ext cx="0" cy="0"/>
          <a:chOff x="0" y="0"/>
          <a:chExt cx="0" cy="0"/>
        </a:xfrm>
      </p:grpSpPr>
      <p:sp>
        <p:nvSpPr>
          <p:cNvPr id="205" name="Google Shape;20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6" name="Google Shape;206;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sz="1100"/>
            </a:lvl1pPr>
            <a:lvl2pPr indent="-317500" lvl="1" marL="914400" rtl="0" algn="l">
              <a:lnSpc>
                <a:spcPct val="90000"/>
              </a:lnSpc>
              <a:spcBef>
                <a:spcPts val="400"/>
              </a:spcBef>
              <a:spcAft>
                <a:spcPts val="0"/>
              </a:spcAft>
              <a:buClr>
                <a:schemeClr val="dk1"/>
              </a:buClr>
              <a:buSzPts val="1400"/>
              <a:buChar char="•"/>
              <a:defRPr sz="1100"/>
            </a:lvl2pPr>
            <a:lvl3pPr indent="-317500" lvl="2" marL="1371600" rtl="0" algn="l">
              <a:lnSpc>
                <a:spcPct val="90000"/>
              </a:lnSpc>
              <a:spcBef>
                <a:spcPts val="400"/>
              </a:spcBef>
              <a:spcAft>
                <a:spcPts val="0"/>
              </a:spcAft>
              <a:buClr>
                <a:schemeClr val="dk1"/>
              </a:buClr>
              <a:buSzPts val="1400"/>
              <a:buChar char="•"/>
              <a:defRPr sz="1100"/>
            </a:lvl3pPr>
            <a:lvl4pPr indent="-317500" lvl="3" marL="1828800" rtl="0" algn="l">
              <a:lnSpc>
                <a:spcPct val="90000"/>
              </a:lnSpc>
              <a:spcBef>
                <a:spcPts val="400"/>
              </a:spcBef>
              <a:spcAft>
                <a:spcPts val="0"/>
              </a:spcAft>
              <a:buClr>
                <a:schemeClr val="dk1"/>
              </a:buClr>
              <a:buSzPts val="1400"/>
              <a:buChar char="•"/>
              <a:defRPr sz="1100"/>
            </a:lvl4pPr>
            <a:lvl5pPr indent="-317500" lvl="4" marL="2286000" rtl="0" algn="l">
              <a:lnSpc>
                <a:spcPct val="90000"/>
              </a:lnSpc>
              <a:spcBef>
                <a:spcPts val="400"/>
              </a:spcBef>
              <a:spcAft>
                <a:spcPts val="0"/>
              </a:spcAft>
              <a:buClr>
                <a:schemeClr val="dk1"/>
              </a:buClr>
              <a:buSzPts val="1400"/>
              <a:buChar char="•"/>
              <a:defRPr sz="1100"/>
            </a:lvl5pPr>
            <a:lvl6pPr indent="-317500" lvl="5" marL="2743200" rtl="0" algn="l">
              <a:lnSpc>
                <a:spcPct val="90000"/>
              </a:lnSpc>
              <a:spcBef>
                <a:spcPts val="400"/>
              </a:spcBef>
              <a:spcAft>
                <a:spcPts val="0"/>
              </a:spcAft>
              <a:buClr>
                <a:schemeClr val="dk1"/>
              </a:buClr>
              <a:buSzPts val="1400"/>
              <a:buChar char="•"/>
              <a:defRPr sz="1100"/>
            </a:lvl6pPr>
            <a:lvl7pPr indent="-317500" lvl="6" marL="3200400" rtl="0" algn="l">
              <a:lnSpc>
                <a:spcPct val="90000"/>
              </a:lnSpc>
              <a:spcBef>
                <a:spcPts val="400"/>
              </a:spcBef>
              <a:spcAft>
                <a:spcPts val="0"/>
              </a:spcAft>
              <a:buClr>
                <a:schemeClr val="dk1"/>
              </a:buClr>
              <a:buSzPts val="1400"/>
              <a:buChar char="•"/>
              <a:defRPr sz="1100"/>
            </a:lvl7pPr>
            <a:lvl8pPr indent="-317500" lvl="7" marL="3657600" rtl="0" algn="l">
              <a:lnSpc>
                <a:spcPct val="90000"/>
              </a:lnSpc>
              <a:spcBef>
                <a:spcPts val="400"/>
              </a:spcBef>
              <a:spcAft>
                <a:spcPts val="0"/>
              </a:spcAft>
              <a:buClr>
                <a:schemeClr val="dk1"/>
              </a:buClr>
              <a:buSzPts val="1400"/>
              <a:buChar char="•"/>
              <a:defRPr sz="1100"/>
            </a:lvl8pPr>
            <a:lvl9pPr indent="-317500" lvl="8" marL="4114800" rtl="0" algn="l">
              <a:lnSpc>
                <a:spcPct val="90000"/>
              </a:lnSpc>
              <a:spcBef>
                <a:spcPts val="400"/>
              </a:spcBef>
              <a:spcAft>
                <a:spcPts val="0"/>
              </a:spcAft>
              <a:buClr>
                <a:schemeClr val="dk1"/>
              </a:buClr>
              <a:buSzPts val="1400"/>
              <a:buChar char="•"/>
              <a:defRPr sz="1100"/>
            </a:lvl9pPr>
          </a:lstStyle>
          <a:p/>
        </p:txBody>
      </p:sp>
      <p:sp>
        <p:nvSpPr>
          <p:cNvPr id="207" name="Google Shape;207;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208" name="Google Shape;20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209" name="Google Shape;209;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210" name="Shape 210"/>
        <p:cNvGrpSpPr/>
        <p:nvPr/>
      </p:nvGrpSpPr>
      <p:grpSpPr>
        <a:xfrm>
          <a:off x="0" y="0"/>
          <a:ext cx="0" cy="0"/>
          <a:chOff x="0" y="0"/>
          <a:chExt cx="0" cy="0"/>
        </a:xfrm>
      </p:grpSpPr>
      <p:sp>
        <p:nvSpPr>
          <p:cNvPr id="211" name="Google Shape;211;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2" name="Google Shape;212;p1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13" name="Google Shape;21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4" name="Google Shape;21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5" name="Google Shape;215;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spd="slow" p14:dur="23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 name="Shape 219"/>
        <p:cNvGrpSpPr/>
        <p:nvPr/>
      </p:nvGrpSpPr>
      <p:grpSpPr>
        <a:xfrm>
          <a:off x="0" y="0"/>
          <a:ext cx="0" cy="0"/>
          <a:chOff x="0" y="0"/>
          <a:chExt cx="0" cy="0"/>
        </a:xfrm>
      </p:grpSpPr>
      <p:sp>
        <p:nvSpPr>
          <p:cNvPr id="220" name="Google Shape;220;p19"/>
          <p:cNvSpPr txBox="1"/>
          <p:nvPr/>
        </p:nvSpPr>
        <p:spPr>
          <a:xfrm>
            <a:off x="697950" y="851425"/>
            <a:ext cx="77481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4200">
              <a:solidFill>
                <a:schemeClr val="lt1"/>
              </a:solidFill>
              <a:latin typeface="Poppins"/>
              <a:ea typeface="Poppins"/>
              <a:cs typeface="Poppins"/>
              <a:sym typeface="Poppins"/>
            </a:endParaRPr>
          </a:p>
        </p:txBody>
      </p:sp>
      <p:sp>
        <p:nvSpPr>
          <p:cNvPr id="221" name="Google Shape;221;p19"/>
          <p:cNvSpPr txBox="1"/>
          <p:nvPr/>
        </p:nvSpPr>
        <p:spPr>
          <a:xfrm>
            <a:off x="15217" y="851425"/>
            <a:ext cx="9144000" cy="7695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t/>
            </a:r>
            <a:endParaRPr sz="3800">
              <a:solidFill>
                <a:schemeClr val="lt2"/>
              </a:solidFill>
            </a:endParaRPr>
          </a:p>
        </p:txBody>
      </p:sp>
      <p:sp>
        <p:nvSpPr>
          <p:cNvPr id="222" name="Google Shape;222;p19"/>
          <p:cNvSpPr txBox="1"/>
          <p:nvPr/>
        </p:nvSpPr>
        <p:spPr>
          <a:xfrm>
            <a:off x="-1" y="2043545"/>
            <a:ext cx="91440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23" name="Google Shape;223;p19"/>
          <p:cNvSpPr txBox="1"/>
          <p:nvPr/>
        </p:nvSpPr>
        <p:spPr>
          <a:xfrm>
            <a:off x="72450" y="1838308"/>
            <a:ext cx="953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endParaRPr b="1" sz="9600">
              <a:solidFill>
                <a:srgbClr val="F3F3F3"/>
              </a:solidFill>
              <a:latin typeface="Barlow Semi Condensed"/>
              <a:ea typeface="Barlow Semi Condensed"/>
              <a:cs typeface="Barlow Semi Condensed"/>
              <a:sym typeface="Barlow Semi Condensed"/>
            </a:endParaRPr>
          </a:p>
        </p:txBody>
      </p:sp>
      <p:sp>
        <p:nvSpPr>
          <p:cNvPr id="224" name="Google Shape;224;p19"/>
          <p:cNvSpPr txBox="1"/>
          <p:nvPr/>
        </p:nvSpPr>
        <p:spPr>
          <a:xfrm>
            <a:off x="-527550" y="862325"/>
            <a:ext cx="876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25" name="Google Shape;225;p19"/>
          <p:cNvSpPr txBox="1"/>
          <p:nvPr>
            <p:ph type="title"/>
          </p:nvPr>
        </p:nvSpPr>
        <p:spPr>
          <a:xfrm>
            <a:off x="311700" y="1090575"/>
            <a:ext cx="8521500" cy="296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a:solidFill>
                  <a:schemeClr val="lt1"/>
                </a:solidFill>
                <a:latin typeface="Rubik"/>
                <a:ea typeface="Rubik"/>
                <a:cs typeface="Rubik"/>
                <a:sym typeface="Rubik"/>
              </a:rPr>
              <a:t>Prediksi Kelulusan Mahasiswa </a:t>
            </a:r>
            <a:endParaRPr b="1">
              <a:solidFill>
                <a:schemeClr val="lt1"/>
              </a:solidFill>
              <a:latin typeface="Rubik"/>
              <a:ea typeface="Rubik"/>
              <a:cs typeface="Rubik"/>
              <a:sym typeface="Rubik"/>
            </a:endParaRPr>
          </a:p>
          <a:p>
            <a:pPr indent="457200" lvl="0" marL="457200" rtl="0" algn="l">
              <a:spcBef>
                <a:spcPts val="0"/>
              </a:spcBef>
              <a:spcAft>
                <a:spcPts val="0"/>
              </a:spcAft>
              <a:buSzPts val="990"/>
              <a:buNone/>
            </a:pPr>
            <a:r>
              <a:rPr b="1" lang="en">
                <a:solidFill>
                  <a:schemeClr val="lt1"/>
                </a:solidFill>
                <a:latin typeface="Rubik"/>
                <a:ea typeface="Rubik"/>
                <a:cs typeface="Rubik"/>
                <a:sym typeface="Rubik"/>
              </a:rPr>
              <a:t> Dengan Logistic Regression</a:t>
            </a:r>
            <a:endParaRPr b="1">
              <a:solidFill>
                <a:schemeClr val="lt1"/>
              </a:solidFill>
              <a:latin typeface="Rubik"/>
              <a:ea typeface="Rubik"/>
              <a:cs typeface="Rubik"/>
              <a:sym typeface="Rubik"/>
            </a:endParaRPr>
          </a:p>
        </p:txBody>
      </p:sp>
      <p:sp>
        <p:nvSpPr>
          <p:cNvPr id="226" name="Google Shape;226;p19"/>
          <p:cNvSpPr txBox="1"/>
          <p:nvPr/>
        </p:nvSpPr>
        <p:spPr>
          <a:xfrm>
            <a:off x="1937350" y="4332975"/>
            <a:ext cx="49347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lt1"/>
                </a:solidFill>
                <a:latin typeface="Rubik"/>
                <a:ea typeface="Rubik"/>
                <a:cs typeface="Rubik"/>
                <a:sym typeface="Rubik"/>
              </a:rPr>
              <a:t>Akhmad Fahmi</a:t>
            </a:r>
            <a:endParaRPr b="1" sz="2500">
              <a:solidFill>
                <a:schemeClr val="lt1"/>
              </a:solidFill>
              <a:latin typeface="Rubik"/>
              <a:ea typeface="Rubik"/>
              <a:cs typeface="Rubik"/>
              <a:sym typeface="Rubik"/>
            </a:endParaRPr>
          </a:p>
        </p:txBody>
      </p:sp>
      <p:pic>
        <p:nvPicPr>
          <p:cNvPr id="227" name="Google Shape;227;p19" title="Intelligo.Id_Main Logo Hor (Transparant White).png"/>
          <p:cNvPicPr preferRelativeResize="0"/>
          <p:nvPr/>
        </p:nvPicPr>
        <p:blipFill>
          <a:blip r:embed="rId4">
            <a:alphaModFix/>
          </a:blip>
          <a:stretch>
            <a:fillRect/>
          </a:stretch>
        </p:blipFill>
        <p:spPr>
          <a:xfrm>
            <a:off x="2324325" y="553750"/>
            <a:ext cx="4495351" cy="90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0"/>
          <p:cNvPicPr preferRelativeResize="0"/>
          <p:nvPr/>
        </p:nvPicPr>
        <p:blipFill>
          <a:blip r:embed="rId3">
            <a:alphaModFix/>
          </a:blip>
          <a:stretch>
            <a:fillRect/>
          </a:stretch>
        </p:blipFill>
        <p:spPr>
          <a:xfrm>
            <a:off x="0" y="0"/>
            <a:ext cx="9144000" cy="5143505"/>
          </a:xfrm>
          <a:prstGeom prst="rect">
            <a:avLst/>
          </a:prstGeom>
          <a:noFill/>
          <a:ln>
            <a:noFill/>
          </a:ln>
        </p:spPr>
      </p:pic>
      <p:sp>
        <p:nvSpPr>
          <p:cNvPr id="233" name="Google Shape;233;p20"/>
          <p:cNvSpPr txBox="1"/>
          <p:nvPr/>
        </p:nvSpPr>
        <p:spPr>
          <a:xfrm>
            <a:off x="321475" y="411800"/>
            <a:ext cx="3719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chemeClr val="lt1"/>
                </a:solidFill>
                <a:latin typeface="Poppins"/>
                <a:ea typeface="Poppins"/>
                <a:cs typeface="Poppins"/>
                <a:sym typeface="Poppins"/>
              </a:rPr>
              <a:t>Outline</a:t>
            </a:r>
            <a:r>
              <a:rPr b="1" lang="en" sz="4800">
                <a:solidFill>
                  <a:schemeClr val="lt1"/>
                </a:solidFill>
                <a:latin typeface="Poppins"/>
                <a:ea typeface="Poppins"/>
                <a:cs typeface="Poppins"/>
                <a:sym typeface="Poppins"/>
              </a:rPr>
              <a:t> :</a:t>
            </a:r>
            <a:endParaRPr b="1" sz="4800">
              <a:solidFill>
                <a:schemeClr val="lt1"/>
              </a:solidFill>
              <a:latin typeface="Poppins"/>
              <a:ea typeface="Poppins"/>
              <a:cs typeface="Poppins"/>
              <a:sym typeface="Poppins"/>
            </a:endParaRPr>
          </a:p>
        </p:txBody>
      </p:sp>
      <p:sp>
        <p:nvSpPr>
          <p:cNvPr id="234" name="Google Shape;234;p20"/>
          <p:cNvSpPr txBox="1"/>
          <p:nvPr/>
        </p:nvSpPr>
        <p:spPr>
          <a:xfrm>
            <a:off x="321475" y="1404450"/>
            <a:ext cx="8496000" cy="24936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chemeClr val="lt1"/>
              </a:buClr>
              <a:buSzPts val="3000"/>
              <a:buFont typeface="Poppins"/>
              <a:buChar char="●"/>
            </a:pPr>
            <a:r>
              <a:rPr lang="en" sz="3000">
                <a:solidFill>
                  <a:schemeClr val="lt1"/>
                </a:solidFill>
                <a:latin typeface="Poppins"/>
                <a:ea typeface="Poppins"/>
                <a:cs typeface="Poppins"/>
                <a:sym typeface="Poppins"/>
              </a:rPr>
              <a:t>Penjelasan Dataset</a:t>
            </a:r>
            <a:endParaRPr sz="3000">
              <a:solidFill>
                <a:schemeClr val="lt1"/>
              </a:solidFill>
              <a:latin typeface="Poppins"/>
              <a:ea typeface="Poppins"/>
              <a:cs typeface="Poppins"/>
              <a:sym typeface="Poppins"/>
            </a:endParaRPr>
          </a:p>
          <a:p>
            <a:pPr indent="-419100" lvl="0" marL="457200" rtl="0" algn="l">
              <a:spcBef>
                <a:spcPts val="0"/>
              </a:spcBef>
              <a:spcAft>
                <a:spcPts val="0"/>
              </a:spcAft>
              <a:buClr>
                <a:schemeClr val="lt1"/>
              </a:buClr>
              <a:buSzPts val="3000"/>
              <a:buFont typeface="Poppins"/>
              <a:buChar char="●"/>
            </a:pPr>
            <a:r>
              <a:rPr lang="en" sz="3000">
                <a:solidFill>
                  <a:schemeClr val="lt1"/>
                </a:solidFill>
                <a:latin typeface="Poppins"/>
                <a:ea typeface="Poppins"/>
                <a:cs typeface="Poppins"/>
                <a:sym typeface="Poppins"/>
              </a:rPr>
              <a:t>Masalah</a:t>
            </a:r>
            <a:endParaRPr sz="3000">
              <a:solidFill>
                <a:schemeClr val="lt1"/>
              </a:solidFill>
              <a:latin typeface="Poppins"/>
              <a:ea typeface="Poppins"/>
              <a:cs typeface="Poppins"/>
              <a:sym typeface="Poppins"/>
            </a:endParaRPr>
          </a:p>
          <a:p>
            <a:pPr indent="-419100" lvl="0" marL="457200" rtl="0" algn="l">
              <a:spcBef>
                <a:spcPts val="0"/>
              </a:spcBef>
              <a:spcAft>
                <a:spcPts val="0"/>
              </a:spcAft>
              <a:buClr>
                <a:schemeClr val="lt1"/>
              </a:buClr>
              <a:buSzPts val="3000"/>
              <a:buFont typeface="Poppins"/>
              <a:buChar char="●"/>
            </a:pPr>
            <a:r>
              <a:rPr lang="en" sz="3000">
                <a:solidFill>
                  <a:schemeClr val="lt1"/>
                </a:solidFill>
                <a:latin typeface="Poppins"/>
                <a:ea typeface="Poppins"/>
                <a:cs typeface="Poppins"/>
                <a:sym typeface="Poppins"/>
              </a:rPr>
              <a:t>Solusi</a:t>
            </a:r>
            <a:endParaRPr sz="3000">
              <a:solidFill>
                <a:schemeClr val="lt1"/>
              </a:solidFill>
              <a:latin typeface="Poppins"/>
              <a:ea typeface="Poppins"/>
              <a:cs typeface="Poppins"/>
              <a:sym typeface="Poppins"/>
            </a:endParaRPr>
          </a:p>
          <a:p>
            <a:pPr indent="-419100" lvl="0" marL="457200" rtl="0" algn="l">
              <a:spcBef>
                <a:spcPts val="0"/>
              </a:spcBef>
              <a:spcAft>
                <a:spcPts val="0"/>
              </a:spcAft>
              <a:buClr>
                <a:schemeClr val="lt1"/>
              </a:buClr>
              <a:buSzPts val="3000"/>
              <a:buFont typeface="Poppins"/>
              <a:buChar char="●"/>
            </a:pPr>
            <a:r>
              <a:rPr lang="en" sz="3000">
                <a:solidFill>
                  <a:schemeClr val="lt1"/>
                </a:solidFill>
                <a:latin typeface="Poppins"/>
                <a:ea typeface="Poppins"/>
                <a:cs typeface="Poppins"/>
                <a:sym typeface="Poppins"/>
              </a:rPr>
              <a:t>Metode yang Dipakai</a:t>
            </a:r>
            <a:endParaRPr sz="3000">
              <a:solidFill>
                <a:schemeClr val="lt1"/>
              </a:solidFill>
              <a:latin typeface="Poppins"/>
              <a:ea typeface="Poppins"/>
              <a:cs typeface="Poppins"/>
              <a:sym typeface="Poppins"/>
            </a:endParaRPr>
          </a:p>
          <a:p>
            <a:pPr indent="-419100" lvl="0" marL="457200" rtl="0" algn="l">
              <a:spcBef>
                <a:spcPts val="0"/>
              </a:spcBef>
              <a:spcAft>
                <a:spcPts val="0"/>
              </a:spcAft>
              <a:buClr>
                <a:schemeClr val="lt1"/>
              </a:buClr>
              <a:buSzPts val="3000"/>
              <a:buFont typeface="Poppins"/>
              <a:buChar char="●"/>
            </a:pPr>
            <a:r>
              <a:rPr lang="en" sz="3000">
                <a:solidFill>
                  <a:schemeClr val="lt1"/>
                </a:solidFill>
                <a:latin typeface="Poppins"/>
                <a:ea typeface="Poppins"/>
                <a:cs typeface="Poppins"/>
                <a:sym typeface="Poppins"/>
              </a:rPr>
              <a:t>Output yang Diharapkan</a:t>
            </a:r>
            <a:endParaRPr sz="3000">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1"/>
          <p:cNvSpPr txBox="1"/>
          <p:nvPr/>
        </p:nvSpPr>
        <p:spPr>
          <a:xfrm>
            <a:off x="503850" y="2110050"/>
            <a:ext cx="813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Penjelasan Dataset</a:t>
            </a:r>
            <a:endParaRPr b="1" sz="4800">
              <a:solidFill>
                <a:schemeClr val="lt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2"/>
          <p:cNvSpPr txBox="1"/>
          <p:nvPr/>
        </p:nvSpPr>
        <p:spPr>
          <a:xfrm>
            <a:off x="1550025" y="692825"/>
            <a:ext cx="5733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Barlow Semi Condensed"/>
                <a:ea typeface="Barlow Semi Condensed"/>
                <a:cs typeface="Barlow Semi Condensed"/>
                <a:sym typeface="Barlow Semi Condensed"/>
              </a:rPr>
              <a:t>Data Rekapitulasi Mahasiswa</a:t>
            </a:r>
            <a:endParaRPr b="1" sz="1600"/>
          </a:p>
        </p:txBody>
      </p:sp>
      <p:sp>
        <p:nvSpPr>
          <p:cNvPr id="245" name="Google Shape;245;p22"/>
          <p:cNvSpPr txBox="1"/>
          <p:nvPr/>
        </p:nvSpPr>
        <p:spPr>
          <a:xfrm>
            <a:off x="281850" y="1338475"/>
            <a:ext cx="8445600" cy="2193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Dataset ini merupakan data historis mahasiswa angkatan sebelumnya yang memiliki 500 baris dengan 10 kolom. Kolom-kolom tersebut mencakup Nama, Jenis Kelamin, Umur, Status Menikah, Kehadiran (%), Partisipasi Diskusi (skor), Nilai Tugas (rata-rata), Aktivitas E-Learning (skor),  IPK', Status Akademik. Dataset ini digunakan untuk menganalisis data historis mahasiswa untuk mendapatkan faktor risiko ketidaklulusan dan memberikan insight kepada pihak kampus.</a:t>
            </a:r>
            <a:endParaRPr sz="2000">
              <a:solidFill>
                <a:schemeClr val="dk1"/>
              </a:solidFill>
              <a:latin typeface="Barlow Semi Condensed"/>
              <a:ea typeface="Barlow Semi Condensed"/>
              <a:cs typeface="Barlow Semi Condensed"/>
              <a:sym typeface="Barlow Semi Condensed"/>
            </a:endParaRPr>
          </a:p>
          <a:p>
            <a:pPr indent="0" lvl="0" marL="0" rtl="0" algn="just">
              <a:spcBef>
                <a:spcPts val="0"/>
              </a:spcBef>
              <a:spcAft>
                <a:spcPts val="0"/>
              </a:spcAft>
              <a:buNone/>
            </a:pPr>
            <a:r>
              <a:t/>
            </a:r>
            <a:endParaRPr sz="105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3"/>
          <p:cNvPicPr preferRelativeResize="0"/>
          <p:nvPr/>
        </p:nvPicPr>
        <p:blipFill>
          <a:blip r:embed="rId3">
            <a:alphaModFix/>
          </a:blip>
          <a:stretch>
            <a:fillRect/>
          </a:stretch>
        </p:blipFill>
        <p:spPr>
          <a:xfrm>
            <a:off x="152400" y="1157300"/>
            <a:ext cx="8839200" cy="3661455"/>
          </a:xfrm>
          <a:prstGeom prst="rect">
            <a:avLst/>
          </a:prstGeom>
          <a:noFill/>
          <a:ln>
            <a:noFill/>
          </a:ln>
        </p:spPr>
      </p:pic>
      <p:sp>
        <p:nvSpPr>
          <p:cNvPr id="251" name="Google Shape;251;p23"/>
          <p:cNvSpPr txBox="1"/>
          <p:nvPr/>
        </p:nvSpPr>
        <p:spPr>
          <a:xfrm>
            <a:off x="-1855475" y="634100"/>
            <a:ext cx="5733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Barlow Semi Condensed"/>
                <a:ea typeface="Barlow Semi Condensed"/>
                <a:cs typeface="Barlow Semi Condensed"/>
                <a:sym typeface="Barlow Semi Condensed"/>
              </a:rPr>
              <a:t>Isi Dataset : </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24"/>
          <p:cNvSpPr txBox="1"/>
          <p:nvPr/>
        </p:nvSpPr>
        <p:spPr>
          <a:xfrm>
            <a:off x="503850" y="2110050"/>
            <a:ext cx="813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Masalah</a:t>
            </a:r>
            <a:endParaRPr b="1" sz="4800">
              <a:solidFill>
                <a:schemeClr val="lt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nvSpPr>
        <p:spPr>
          <a:xfrm>
            <a:off x="164400" y="1186050"/>
            <a:ext cx="86217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Pihak kampus ini mengetahui pola dan faktor risiko ketidaklulusan mahasiswa.</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Pihak kampus ingin bisa memprediksi kelulusan mahasiswa sebagai intervensi dini.</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b="1" lang="en" sz="2000">
                <a:solidFill>
                  <a:schemeClr val="dk1"/>
                </a:solidFill>
                <a:latin typeface="Barlow Semi Condensed"/>
                <a:ea typeface="Barlow Semi Condensed"/>
                <a:cs typeface="Barlow Semi Condensed"/>
                <a:sym typeface="Barlow Semi Condensed"/>
              </a:rPr>
              <a:t>Pertanyaan Utama:</a:t>
            </a:r>
            <a:endParaRPr b="1"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Bagaimana Machine Learning dapat membantu kampus memprediksi kelulusan mahasiswa sebagai intervensi dini ?</a:t>
            </a:r>
            <a:endParaRPr sz="200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26"/>
          <p:cNvSpPr txBox="1"/>
          <p:nvPr/>
        </p:nvSpPr>
        <p:spPr>
          <a:xfrm>
            <a:off x="503850" y="1511150"/>
            <a:ext cx="81363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Solusi </a:t>
            </a:r>
            <a:endParaRPr b="1" sz="4800">
              <a:solidFill>
                <a:schemeClr val="lt1"/>
              </a:solidFill>
              <a:latin typeface="Poppins"/>
              <a:ea typeface="Poppins"/>
              <a:cs typeface="Poppins"/>
              <a:sym typeface="Poppins"/>
            </a:endParaRPr>
          </a:p>
          <a:p>
            <a:pPr indent="0" lvl="0" marL="0" rtl="0" algn="ctr">
              <a:spcBef>
                <a:spcPts val="0"/>
              </a:spcBef>
              <a:spcAft>
                <a:spcPts val="0"/>
              </a:spcAft>
              <a:buNone/>
            </a:pPr>
            <a:r>
              <a:rPr b="1" lang="en" sz="4800">
                <a:solidFill>
                  <a:schemeClr val="lt1"/>
                </a:solidFill>
                <a:latin typeface="Poppins"/>
                <a:ea typeface="Poppins"/>
                <a:cs typeface="Poppins"/>
                <a:sym typeface="Poppins"/>
              </a:rPr>
              <a:t>(Insight Awal dari Data)</a:t>
            </a:r>
            <a:endParaRPr b="1" sz="4800">
              <a:solidFill>
                <a:schemeClr val="lt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nvSpPr>
        <p:spPr>
          <a:xfrm>
            <a:off x="93925" y="669375"/>
            <a:ext cx="9385200" cy="4186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Distribusi IPK mahasiswa cenderung lebih tinggi pada range 3.75-4.00.</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Berdasarkan cek korelasi antar feature, faktor akademis menunjukkan hubungan lebih kuat terhadap risiko </a:t>
            </a:r>
            <a:r>
              <a:rPr lang="en" sz="2000">
                <a:solidFill>
                  <a:schemeClr val="dk1"/>
                </a:solidFill>
                <a:latin typeface="Barlow Semi Condensed"/>
                <a:ea typeface="Barlow Semi Condensed"/>
                <a:cs typeface="Barlow Semi Condensed"/>
                <a:sym typeface="Barlow Semi Condensed"/>
              </a:rPr>
              <a:t>ketidaklulusan </a:t>
            </a:r>
            <a:r>
              <a:rPr lang="en" sz="2000">
                <a:solidFill>
                  <a:schemeClr val="dk1"/>
                </a:solidFill>
                <a:latin typeface="Barlow Semi Condensed"/>
                <a:ea typeface="Barlow Semi Condensed"/>
                <a:cs typeface="Barlow Semi Condensed"/>
                <a:sym typeface="Barlow Semi Condensed"/>
              </a:rPr>
              <a:t>daripada faktor demografis.</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IPK menunjukkan hubungan linear paling tinggi (0.28) terhadap risiko </a:t>
            </a:r>
            <a:r>
              <a:rPr lang="en" sz="2000">
                <a:solidFill>
                  <a:schemeClr val="dk1"/>
                </a:solidFill>
                <a:latin typeface="Barlow Semi Condensed"/>
                <a:ea typeface="Barlow Semi Condensed"/>
                <a:cs typeface="Barlow Semi Condensed"/>
                <a:sym typeface="Barlow Semi Condensed"/>
              </a:rPr>
              <a:t>ketidaklulusan</a:t>
            </a:r>
            <a:endParaRPr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dibanding feature yang lain.</a:t>
            </a:r>
            <a:endParaRPr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t/>
            </a:r>
            <a:endParaRPr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t/>
            </a:r>
            <a:endParaRPr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Solusi Awal</a:t>
            </a:r>
            <a:r>
              <a:rPr b="1" lang="en" sz="2000">
                <a:solidFill>
                  <a:schemeClr val="dk1"/>
                </a:solidFill>
                <a:latin typeface="Barlow Semi Condensed"/>
                <a:ea typeface="Barlow Semi Condensed"/>
                <a:cs typeface="Barlow Semi Condensed"/>
                <a:sym typeface="Barlow Semi Condensed"/>
              </a:rPr>
              <a:t>:</a:t>
            </a:r>
            <a:endParaRPr b="1"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Pihak kampus mendorong mahasiswa untuk fokus terhadap akademik karena hal tersebut berpengaruh pada risiko ketidaklulusan.</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Monitoring terhadap IPK mahasiswa.</a:t>
            </a:r>
            <a:endParaRPr sz="2000">
              <a:solidFill>
                <a:schemeClr val="dk1"/>
              </a:solidFill>
              <a:latin typeface="Barlow Semi Condensed"/>
              <a:ea typeface="Barlow Semi Condensed"/>
              <a:cs typeface="Barlow Semi Condensed"/>
              <a:sym typeface="Barlow Semi Condensed"/>
            </a:endParaRPr>
          </a:p>
          <a:p>
            <a:pPr indent="-355600" lvl="0" marL="457200" rtl="0" algn="l">
              <a:spcBef>
                <a:spcPts val="0"/>
              </a:spcBef>
              <a:spcAft>
                <a:spcPts val="0"/>
              </a:spcAft>
              <a:buClr>
                <a:schemeClr val="dk1"/>
              </a:buClr>
              <a:buSzPts val="2000"/>
              <a:buFont typeface="Barlow Semi Condensed"/>
              <a:buChar char="●"/>
            </a:pPr>
            <a:r>
              <a:rPr lang="en" sz="2000">
                <a:solidFill>
                  <a:schemeClr val="dk1"/>
                </a:solidFill>
                <a:latin typeface="Barlow Semi Condensed"/>
                <a:ea typeface="Barlow Semi Condensed"/>
                <a:cs typeface="Barlow Semi Condensed"/>
                <a:sym typeface="Barlow Semi Condensed"/>
              </a:rPr>
              <a:t>Memberikan atensi khusus terhadap mahasiswa dengan IPK rendah.</a:t>
            </a:r>
            <a:endParaRPr sz="2000">
              <a:solidFill>
                <a:schemeClr val="dk1"/>
              </a:solidFill>
              <a:latin typeface="Barlow Semi Condensed"/>
              <a:ea typeface="Barlow Semi Condensed"/>
              <a:cs typeface="Barlow Semi Condensed"/>
              <a:sym typeface="Barlow Semi Condensed"/>
            </a:endParaRPr>
          </a:p>
          <a:p>
            <a:pPr indent="0" lvl="0" marL="457200" rtl="0" algn="l">
              <a:spcBef>
                <a:spcPts val="0"/>
              </a:spcBef>
              <a:spcAft>
                <a:spcPts val="0"/>
              </a:spcAft>
              <a:buNone/>
            </a:pPr>
            <a:r>
              <a:t/>
            </a:r>
            <a:endParaRPr sz="200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nvSpPr>
        <p:spPr>
          <a:xfrm>
            <a:off x="753900" y="544875"/>
            <a:ext cx="6764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Kita bisa melakukan ekplorasi awal untuk mendapatkan feature mana yang memiliki hubungan kuat terhadap target.</a:t>
            </a:r>
            <a:endParaRPr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2000">
              <a:solidFill>
                <a:schemeClr val="dk1"/>
              </a:solidFill>
              <a:latin typeface="Barlow Semi Condensed"/>
              <a:ea typeface="Barlow Semi Condensed"/>
              <a:cs typeface="Barlow Semi Condensed"/>
              <a:sym typeface="Barlow Semi Condensed"/>
            </a:endParaRPr>
          </a:p>
        </p:txBody>
      </p:sp>
      <p:pic>
        <p:nvPicPr>
          <p:cNvPr id="277" name="Google Shape;277;p28" title="Screenshot 2026-02-06 163150.png"/>
          <p:cNvPicPr preferRelativeResize="0"/>
          <p:nvPr/>
        </p:nvPicPr>
        <p:blipFill>
          <a:blip r:embed="rId3">
            <a:alphaModFix/>
          </a:blip>
          <a:stretch>
            <a:fillRect/>
          </a:stretch>
        </p:blipFill>
        <p:spPr>
          <a:xfrm>
            <a:off x="2198325" y="1502225"/>
            <a:ext cx="4321476" cy="3336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p29"/>
          <p:cNvSpPr txBox="1"/>
          <p:nvPr/>
        </p:nvSpPr>
        <p:spPr>
          <a:xfrm>
            <a:off x="503850" y="1663825"/>
            <a:ext cx="81363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Metode </a:t>
            </a:r>
            <a:endParaRPr b="1" sz="4800">
              <a:solidFill>
                <a:schemeClr val="lt1"/>
              </a:solidFill>
              <a:latin typeface="Poppins"/>
              <a:ea typeface="Poppins"/>
              <a:cs typeface="Poppins"/>
              <a:sym typeface="Poppins"/>
            </a:endParaRPr>
          </a:p>
          <a:p>
            <a:pPr indent="0" lvl="0" marL="0" rtl="0" algn="ctr">
              <a:spcBef>
                <a:spcPts val="0"/>
              </a:spcBef>
              <a:spcAft>
                <a:spcPts val="0"/>
              </a:spcAft>
              <a:buNone/>
            </a:pPr>
            <a:r>
              <a:rPr b="1" lang="en" sz="4800">
                <a:solidFill>
                  <a:schemeClr val="lt1"/>
                </a:solidFill>
                <a:latin typeface="Poppins"/>
                <a:ea typeface="Poppins"/>
                <a:cs typeface="Poppins"/>
                <a:sym typeface="Poppins"/>
              </a:rPr>
              <a:t>Machine Learning</a:t>
            </a:r>
            <a:endParaRPr b="1" sz="4800">
              <a:solidFill>
                <a:schemeClr val="lt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0"/>
          <p:cNvSpPr txBox="1"/>
          <p:nvPr/>
        </p:nvSpPr>
        <p:spPr>
          <a:xfrm>
            <a:off x="167100" y="701475"/>
            <a:ext cx="8809800" cy="347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Metode yang Digunakan:</a:t>
            </a:r>
            <a:endParaRPr b="1" sz="2000">
              <a:solidFill>
                <a:schemeClr val="dk1"/>
              </a:solidFill>
              <a:latin typeface="Barlow Semi Condensed"/>
              <a:ea typeface="Barlow Semi Condensed"/>
              <a:cs typeface="Barlow Semi Condensed"/>
              <a:sym typeface="Barlow Semi Condensed"/>
            </a:endParaRPr>
          </a:p>
          <a:p>
            <a:pPr indent="457200" lvl="0" marL="0" rtl="0" algn="l">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Untuk solve masalah ini, saya menggunakan metode Classification Model dengan algoritma Logistic Regression.</a:t>
            </a:r>
            <a:endParaRPr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Langkah-langkah:</a:t>
            </a:r>
            <a:endParaRPr b="1"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1.</a:t>
            </a:r>
            <a:r>
              <a:rPr lang="en" sz="2000">
                <a:solidFill>
                  <a:schemeClr val="dk1"/>
                </a:solidFill>
                <a:latin typeface="Barlow Semi Condensed"/>
                <a:ea typeface="Barlow Semi Condensed"/>
                <a:cs typeface="Barlow Semi Condensed"/>
                <a:sym typeface="Barlow Semi Condensed"/>
              </a:rPr>
              <a:t>  </a:t>
            </a:r>
            <a:r>
              <a:rPr b="1" lang="en" sz="2000">
                <a:solidFill>
                  <a:schemeClr val="dk1"/>
                </a:solidFill>
                <a:latin typeface="Barlow Semi Condensed"/>
                <a:ea typeface="Barlow Semi Condensed"/>
                <a:cs typeface="Barlow Semi Condensed"/>
                <a:sym typeface="Barlow Semi Condensed"/>
              </a:rPr>
              <a:t>Exploratory Data Analysis (EDA)</a:t>
            </a:r>
            <a:endParaRPr b="1"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2.</a:t>
            </a:r>
            <a:r>
              <a:rPr lang="en" sz="2000">
                <a:solidFill>
                  <a:schemeClr val="dk1"/>
                </a:solidFill>
                <a:latin typeface="Barlow Semi Condensed"/>
                <a:ea typeface="Barlow Semi Condensed"/>
                <a:cs typeface="Barlow Semi Condensed"/>
                <a:sym typeface="Barlow Semi Condensed"/>
              </a:rPr>
              <a:t> </a:t>
            </a:r>
            <a:r>
              <a:rPr b="1" lang="en" sz="2000">
                <a:solidFill>
                  <a:schemeClr val="dk1"/>
                </a:solidFill>
                <a:latin typeface="Barlow Semi Condensed"/>
                <a:ea typeface="Barlow Semi Condensed"/>
                <a:cs typeface="Barlow Semi Condensed"/>
                <a:sym typeface="Barlow Semi Condensed"/>
              </a:rPr>
              <a:t>Pemilihan Features: </a:t>
            </a:r>
            <a:r>
              <a:rPr lang="en" sz="2000">
                <a:solidFill>
                  <a:schemeClr val="dk1"/>
                </a:solidFill>
                <a:latin typeface="Barlow Semi Condensed"/>
                <a:ea typeface="Barlow Semi Condensed"/>
                <a:cs typeface="Barlow Semi Condensed"/>
                <a:sym typeface="Barlow Semi Condensed"/>
              </a:rPr>
              <a:t>Menggunakan semua kolom kecuali kolom nama dan           variabel target.</a:t>
            </a:r>
            <a:endParaRPr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3. Preprocessing: </a:t>
            </a:r>
            <a:r>
              <a:rPr lang="en" sz="2000">
                <a:solidFill>
                  <a:schemeClr val="dk1"/>
                </a:solidFill>
                <a:latin typeface="Barlow Semi Condensed"/>
                <a:ea typeface="Barlow Semi Condensed"/>
                <a:cs typeface="Barlow Semi Condensed"/>
                <a:sym typeface="Barlow Semi Condensed"/>
              </a:rPr>
              <a:t>Encoding variabel kategorikal</a:t>
            </a:r>
            <a:endParaRPr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4. Pembuatan Model: </a:t>
            </a:r>
            <a:r>
              <a:rPr lang="en" sz="2000">
                <a:solidFill>
                  <a:schemeClr val="dk1"/>
                </a:solidFill>
                <a:latin typeface="Barlow Semi Condensed"/>
                <a:ea typeface="Barlow Semi Condensed"/>
                <a:cs typeface="Barlow Semi Condensed"/>
                <a:sym typeface="Barlow Semi Condensed"/>
              </a:rPr>
              <a:t>Logistic Regression untuk prediksi risiko ketidaklulusan.</a:t>
            </a:r>
            <a:endParaRPr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5. Evaluasi Model</a:t>
            </a:r>
            <a:endParaRPr b="1"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1" name="Shape 291"/>
        <p:cNvGrpSpPr/>
        <p:nvPr/>
      </p:nvGrpSpPr>
      <p:grpSpPr>
        <a:xfrm>
          <a:off x="0" y="0"/>
          <a:ext cx="0" cy="0"/>
          <a:chOff x="0" y="0"/>
          <a:chExt cx="0" cy="0"/>
        </a:xfrm>
      </p:grpSpPr>
      <p:sp>
        <p:nvSpPr>
          <p:cNvPr id="292" name="Google Shape;292;p31"/>
          <p:cNvSpPr txBox="1"/>
          <p:nvPr/>
        </p:nvSpPr>
        <p:spPr>
          <a:xfrm>
            <a:off x="503850" y="2110050"/>
            <a:ext cx="813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Output yang Diharapkan</a:t>
            </a:r>
            <a:endParaRPr b="1" sz="4800">
              <a:solidFill>
                <a:schemeClr val="lt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2"/>
          <p:cNvSpPr txBox="1"/>
          <p:nvPr/>
        </p:nvSpPr>
        <p:spPr>
          <a:xfrm>
            <a:off x="108450" y="739825"/>
            <a:ext cx="8927100" cy="31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Barlow Semi Condensed"/>
                <a:ea typeface="Barlow Semi Condensed"/>
                <a:cs typeface="Barlow Semi Condensed"/>
                <a:sym typeface="Barlow Semi Condensed"/>
              </a:rPr>
              <a:t>Bagaimana Machine Learning dapat membantu kampus memprediksi kelulusan mahasiswa sebagai intervensi dini ?</a:t>
            </a:r>
            <a:endParaRPr b="1" sz="2000">
              <a:solidFill>
                <a:schemeClr val="dk1"/>
              </a:solidFill>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b="1" sz="2000">
              <a:solidFill>
                <a:schemeClr val="dk1"/>
              </a:solidFill>
              <a:latin typeface="Barlow Semi Condensed"/>
              <a:ea typeface="Barlow Semi Condensed"/>
              <a:cs typeface="Barlow Semi Condensed"/>
              <a:sym typeface="Barlow Semi Condensed"/>
            </a:endParaRPr>
          </a:p>
          <a:p>
            <a:pPr indent="0" lvl="0" marL="0" rtl="0" algn="just">
              <a:spcBef>
                <a:spcPts val="0"/>
              </a:spcBef>
              <a:spcAft>
                <a:spcPts val="0"/>
              </a:spcAft>
              <a:buNone/>
            </a:pPr>
            <a:r>
              <a:rPr lang="en" sz="2000">
                <a:solidFill>
                  <a:schemeClr val="dk1"/>
                </a:solidFill>
                <a:latin typeface="Barlow Semi Condensed"/>
                <a:ea typeface="Barlow Semi Condensed"/>
                <a:cs typeface="Barlow Semi Condensed"/>
                <a:sym typeface="Barlow Semi Condensed"/>
              </a:rPr>
              <a:t>Pihak kampus bisa menggunakan metode Machine Learning untuk memprediksi kelulusan mahasiswa dengan menerapkan Classification model berupa output </a:t>
            </a:r>
            <a:r>
              <a:rPr b="1" lang="en" sz="2000">
                <a:solidFill>
                  <a:schemeClr val="dk1"/>
                </a:solidFill>
                <a:latin typeface="Barlow Semi Condensed"/>
                <a:ea typeface="Barlow Semi Condensed"/>
                <a:cs typeface="Barlow Semi Condensed"/>
                <a:sym typeface="Barlow Semi Condensed"/>
              </a:rPr>
              <a:t>lulus (1) /tidak lulus (0). </a:t>
            </a:r>
            <a:r>
              <a:rPr lang="en" sz="2000">
                <a:solidFill>
                  <a:schemeClr val="dk1"/>
                </a:solidFill>
                <a:latin typeface="Barlow Semi Condensed"/>
                <a:ea typeface="Barlow Semi Condensed"/>
                <a:cs typeface="Barlow Semi Condensed"/>
                <a:sym typeface="Barlow Semi Condensed"/>
              </a:rPr>
              <a:t>Selain itu juga, dengan metode Machine Learning ini pihak kampus bisa mengeksplorasi data yang dimiliki untuk menemukan faktor mana yang paling berpengaruh terhadap risiko ketidaklulusan mahasiswa. Dengan demikian, kampus dapat melakukan intervensi dini.</a:t>
            </a:r>
            <a:endParaRPr sz="2000">
              <a:solidFill>
                <a:schemeClr val="dk1"/>
              </a:solidFill>
              <a:latin typeface="Barlow Semi Condensed"/>
              <a:ea typeface="Barlow Semi Condensed"/>
              <a:cs typeface="Barlow Semi Condensed"/>
              <a:sym typeface="Barlow Semi Condensed"/>
            </a:endParaRPr>
          </a:p>
          <a:p>
            <a:pPr indent="0" lvl="0" marL="0" rtl="0" algn="just">
              <a:spcBef>
                <a:spcPts val="0"/>
              </a:spcBef>
              <a:spcAft>
                <a:spcPts val="0"/>
              </a:spcAft>
              <a:buNone/>
            </a:pPr>
            <a:r>
              <a:t/>
            </a:r>
            <a:endParaRPr sz="105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nvSpPr>
        <p:spPr>
          <a:xfrm>
            <a:off x="2336100" y="2110050"/>
            <a:ext cx="4864800" cy="846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300">
                <a:solidFill>
                  <a:schemeClr val="dk1"/>
                </a:solidFill>
              </a:rPr>
              <a:t>TERIMA KASIH!!</a:t>
            </a:r>
            <a:endParaRPr b="1" sz="4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